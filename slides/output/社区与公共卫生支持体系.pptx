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6D77"/>
                </a:solidFill>
                <a:latin typeface="Microsoft YaHei"/>
              </a:defRPr>
            </a:pPr>
            <a:r>
              <a:rPr sz="1200" b="0" i="0" u="none" strike="noStrike">
                <a:solidFill>
                  <a:srgbClr val="006D77"/>
                </a:solidFill>
                <a:latin typeface="Microsoft YaHei"/>
              </a:rPr>
              <a:t>社区卫生服务机构数量增长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机构数量（万家）</c:v>
                </c:pt>
              </c:strCache>
            </c:strRef>
          </c:tx>
          <c:spPr>
            <a:solidFill>
              <a:srgbClr val="006D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6D7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3.5</c:v>
                </c:pt>
                <c:pt idx="2">
                  <c:v>3.6</c:v>
                </c:pt>
                <c:pt idx="3">
                  <c:v>3.7</c:v>
                </c:pt>
                <c:pt idx="4">
                  <c:v>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6D7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6D77"/>
                </a:solidFill>
                <a:latin typeface="Microsoft YaHei"/>
              </a:defRPr>
            </a:pPr>
            <a:r>
              <a:rPr sz="1100" b="0" i="0" u="none" strike="noStrike">
                <a:solidFill>
                  <a:srgbClr val="006D77"/>
                </a:solidFill>
                <a:latin typeface="Microsoft YaHei"/>
              </a:rPr>
              <a:t>社区卫生信息化覆盖情况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信息化覆盖率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D77"/>
              </a:solidFill>
              <a:effectLst/>
            </c:spPr>
          </c:dPt>
          <c:dPt>
            <c:idx val="1"/>
            <c:bubble3D val="0"/>
            <c:spPr>
              <a:solidFill>
                <a:srgbClr val="83C5BE"/>
              </a:solidFill>
              <a:effectLst/>
            </c:spPr>
          </c:dPt>
          <c:dPt>
            <c:idx val="2"/>
            <c:bubble3D val="0"/>
            <c:spPr>
              <a:solidFill>
                <a:srgbClr val="E29578"/>
              </a:solidFill>
              <a:effectLst/>
            </c:spPr>
          </c:dPt>
          <c:dPt>
            <c:idx val="3"/>
            <c:bubble3D val="0"/>
            <c:spPr>
              <a:solidFill>
                <a:srgbClr val="FFDDD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2D374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电子健康档案</c:v>
                </c:pt>
                <c:pt idx="1">
                  <c:v>远程医疗</c:v>
                </c:pt>
                <c:pt idx="2">
                  <c:v>AI应用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85</c:v>
                </c:pt>
                <c:pt idx="1">
                  <c:v>45</c:v>
                </c:pt>
                <c:pt idx="2">
                  <c:v>30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5568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83C5B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FDDD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914400" cy="54864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社区与公共卫生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支持体系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&amp; Public Health Support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83C5BE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构建健康社区 · 守护公共安全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09728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社区卫生服务概述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764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定义、意义与发展历程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011680"/>
            <a:ext cx="18288" cy="274320"/>
          </a:xfrm>
          <a:prstGeom prst="rect">
            <a:avLst/>
          </a:prstGeom>
          <a:solidFill>
            <a:srgbClr val="83C5BE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公共卫生体系构建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6334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服务体系框架与核心功能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2880360"/>
            <a:ext cx="18288" cy="274320"/>
          </a:xfrm>
          <a:prstGeom prst="rect">
            <a:avLst/>
          </a:prstGeom>
          <a:solidFill>
            <a:srgbClr val="83C5BE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社区支持策略与机制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502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多方协同与资源整合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3749040"/>
            <a:ext cx="18288" cy="274320"/>
          </a:xfrm>
          <a:prstGeom prst="rect">
            <a:avLst/>
          </a:prstGeom>
          <a:solidFill>
            <a:srgbClr val="83C5BE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未来展望与总结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4370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信息化建设与发展趋势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0" y="457200"/>
            <a:ext cx="2743200" cy="2743200"/>
          </a:xfrm>
          <a:prstGeom prst="ellipse">
            <a:avLst/>
          </a:prstGeom>
          <a:solidFill>
            <a:srgbClr val="83C5BE">
              <a:alpha val="1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0" y="2743200"/>
            <a:ext cx="1828800" cy="1828800"/>
          </a:xfrm>
          <a:prstGeom prst="ellipse">
            <a:avLst/>
          </a:prstGeom>
          <a:solidFill>
            <a:srgbClr val="FFDDD2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3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1097280" y="2926080"/>
            <a:ext cx="1005840" cy="36576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645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社区卫生服务概述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· 意义 · 发展历程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3383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社区卫生服务是公共卫生体系的基石，是实现全民健康覆盖的重要途径。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社区卫生服务的定义与意义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6d7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 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社区卫生服务是以社区为基础，以居民健康为中心，由社区卫生服务机构提供的综合性卫生服务，涵盖预防、保健、医疗、康复、健康教育及计划生育技术指导等六大功能。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6d77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82880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核心意义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实现医疗资源下沉，缓解看病难问题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推动以治疗为中心向以健康为中心转变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构建分级诊疗制度的重要基础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促进基本公共卫生服务均等化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83280"/>
            <a:ext cx="2560320" cy="4572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20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383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3383280"/>
            <a:ext cx="2560320" cy="45720"/>
          </a:xfrm>
          <a:prstGeom prst="rect">
            <a:avLst/>
          </a:prstGeom>
          <a:solidFill>
            <a:srgbClr val="83C5BE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520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3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大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38328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核心服务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3832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383280"/>
            <a:ext cx="2560320" cy="4572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520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亿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1792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年度服务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居民人次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社区卫生六大核心服务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560320" cy="54864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6D77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3441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预防服务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传染病防控、免疫接种、慢病管理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43000"/>
            <a:ext cx="2560320" cy="54864"/>
          </a:xfrm>
          <a:prstGeom prst="rect">
            <a:avLst/>
          </a:prstGeom>
          <a:solidFill>
            <a:srgbClr val="83C5B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71600"/>
            <a:ext cx="457200" cy="457200"/>
          </a:xfrm>
          <a:prstGeom prst="ellipse">
            <a:avLst/>
          </a:prstGeom>
          <a:solidFill>
            <a:srgbClr val="83C5BE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60520" y="13441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保健服务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妇女儿童保健、老年人健康管理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43000"/>
            <a:ext cx="2560320" cy="54864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371600"/>
            <a:ext cx="457200" cy="457200"/>
          </a:xfrm>
          <a:prstGeom prst="ellipse">
            <a:avLst/>
          </a:prstGeom>
          <a:solidFill>
            <a:srgbClr val="E29578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13441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医疗服务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常见病诊治、双向转诊、家庭医生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017520"/>
            <a:ext cx="2560320" cy="54864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006D77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♿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32186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康复服务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3840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社区康复指导、功能训练评估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017520"/>
            <a:ext cx="2560320" cy="54864"/>
          </a:xfrm>
          <a:prstGeom prst="rect">
            <a:avLst/>
          </a:prstGeom>
          <a:solidFill>
            <a:srgbClr val="83C5BE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3246120"/>
            <a:ext cx="457200" cy="457200"/>
          </a:xfrm>
          <a:prstGeom prst="ellipse">
            <a:avLst/>
          </a:prstGeom>
          <a:solidFill>
            <a:srgbClr val="83C5BE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60520" y="32186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健康教育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66160" y="3840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健康知识普及、生活方式干预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0175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017520"/>
            <a:ext cx="2560320" cy="54864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0" y="3246120"/>
            <a:ext cx="457200" cy="457200"/>
          </a:xfrm>
          <a:prstGeom prst="ellipse">
            <a:avLst/>
          </a:prstGeom>
          <a:solidFill>
            <a:srgbClr val="E29578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👨‍👩‍👧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95160" y="32186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计生指导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3840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计划生育技术咨询与指导服务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83C5BE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公共卫生体系构建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服务体系框架 · 核心功能 · 运行机制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-914400" y="-457200"/>
            <a:ext cx="2286000" cy="2286000"/>
          </a:xfrm>
          <a:prstGeom prst="ellipse">
            <a:avLst/>
          </a:prstGeom>
          <a:solidFill>
            <a:srgbClr val="83C5B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FFDDD2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公共卫生服务体系框架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560320" cy="41148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疾病预防控制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传染病监测预警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慢性病综合防控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免疫规划实施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健康危害因素监测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43000"/>
            <a:ext cx="2560320" cy="411480"/>
          </a:xfrm>
          <a:prstGeom prst="rect">
            <a:avLst/>
          </a:prstGeom>
          <a:solidFill>
            <a:srgbClr val="83C5B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卫生监督执法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6916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公共卫生监督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医疗卫生监督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食品安全监测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环境卫生监管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43000"/>
            <a:ext cx="2560320" cy="41148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妇幼保健服务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69164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孕产期保健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儿童健康管理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出生缺陷防控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生殖健康服务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治理体系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6D7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政府主导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4160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957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88920" y="4160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83C5BE"/>
          </a:solidFill>
          <a:ln/>
        </p:spPr>
      </p:sp>
      <p:sp>
        <p:nvSpPr>
          <p:cNvPr id="22" name="Text 20"/>
          <p:cNvSpPr/>
          <p:nvPr/>
        </p:nvSpPr>
        <p:spPr>
          <a:xfrm>
            <a:off x="278892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部门协作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51960" y="4160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957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4160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83C5BE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社会参与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4160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957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20840" y="41605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83C5BE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法制保障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社区卫生服务关键数据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097280"/>
          <a:ext cx="4389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188720"/>
            <a:ext cx="3291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188720"/>
            <a:ext cx="54864" cy="105156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3.8万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06640" y="1280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社区卫生服务机构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664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截至2023年底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2423160"/>
            <a:ext cx="3291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2423160"/>
            <a:ext cx="54864" cy="1051560"/>
          </a:xfrm>
          <a:prstGeom prst="rect">
            <a:avLst/>
          </a:prstGeom>
          <a:solidFill>
            <a:srgbClr val="83C5BE"/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72.3%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40664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家庭医生签约率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重点人群覆盖率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03520" y="3657600"/>
            <a:ext cx="3291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3657600"/>
            <a:ext cx="54864" cy="1051560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17" name="Text 14"/>
          <p:cNvSpPr/>
          <p:nvPr/>
        </p:nvSpPr>
        <p:spPr>
          <a:xfrm>
            <a:off x="557784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9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45万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40664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全科医生总数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06640" y="4023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较上年增长8%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数据来源：国家卫生健康委员会年度统计公报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0" y="914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83C5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6675120" y="2377440"/>
            <a:ext cx="1645920" cy="36576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社区支持策略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与机制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多方协同 · 资源整合 · 信息化建设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构建政府主导、多部门协作、全社会参与的社区卫生支持体系，推动健康治理现代化。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-457200" y="-274320"/>
            <a:ext cx="1645920" cy="1645920"/>
          </a:xfrm>
          <a:prstGeom prst="ellipse">
            <a:avLst/>
          </a:prstGeom>
          <a:solidFill>
            <a:srgbClr val="FFDDD2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多方协同支持机制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2011680"/>
            <a:ext cx="1828800" cy="182880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0116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居民健康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508760"/>
            <a:ext cx="2743200" cy="1417320"/>
          </a:xfrm>
          <a:prstGeom prst="line">
            <a:avLst/>
          </a:prstGeom>
          <a:noFill/>
          <a:ln w="19050">
            <a:solidFill>
              <a:srgbClr val="83C5B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440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1234440"/>
            <a:ext cx="228600" cy="228600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政府机构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政策制定、资金保障、考核监督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2743200" cy="1417320"/>
          </a:xfrm>
          <a:prstGeom prst="line">
            <a:avLst/>
          </a:prstGeom>
          <a:noFill/>
          <a:ln w="19050">
            <a:solidFill>
              <a:srgbClr val="83C5B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234440"/>
            <a:ext cx="228600" cy="2286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188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医疗机构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技术支持、双向转诊、人才培养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2926080"/>
            <a:ext cx="2743200" cy="685800"/>
          </a:xfrm>
          <a:prstGeom prst="line">
            <a:avLst/>
          </a:prstGeom>
          <a:noFill/>
          <a:ln w="19050">
            <a:solidFill>
              <a:srgbClr val="83C5B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14400" y="32004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1560" y="3337560"/>
            <a:ext cx="228600" cy="22860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社会组织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志愿服务、健康宣教、社区动员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926080"/>
            <a:ext cx="2743200" cy="685800"/>
          </a:xfrm>
          <a:prstGeom prst="line">
            <a:avLst/>
          </a:prstGeom>
          <a:noFill/>
          <a:ln w="19050">
            <a:solidFill>
              <a:srgbClr val="83C5B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00800" y="320040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6d77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3337560"/>
            <a:ext cx="228600" cy="228600"/>
          </a:xfrm>
          <a:prstGeom prst="ellipse">
            <a:avLst/>
          </a:prstGeom>
          <a:solidFill>
            <a:srgbClr val="83C5B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企业力量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技术赋能、资金捐助、健康产品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信息化建设与创新应用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E2957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298448"/>
            <a:ext cx="274320" cy="27432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572768"/>
            <a:ext cx="27432" cy="530352"/>
          </a:xfrm>
          <a:prstGeom prst="rect">
            <a:avLst/>
          </a:prstGeom>
          <a:solidFill>
            <a:srgbClr val="83C5BE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电子健康档案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居民全生命周期健康数据管理，实现信息互通共享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274320" cy="27432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487168"/>
            <a:ext cx="27432" cy="530352"/>
          </a:xfrm>
          <a:prstGeom prst="rect">
            <a:avLst/>
          </a:prstGeom>
          <a:solidFill>
            <a:srgbClr val="83C5BE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远程医疗服务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450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连接上级医院专家资源，优质医疗资源下沉社区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127248"/>
            <a:ext cx="274320" cy="27432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401568"/>
            <a:ext cx="27432" cy="530352"/>
          </a:xfrm>
          <a:prstGeom prst="rect">
            <a:avLst/>
          </a:prstGeom>
          <a:solidFill>
            <a:srgbClr val="83C5BE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AI辅助诊断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364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人工智能辅助疾病筛查与风险评估，提升诊疗效率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041648"/>
            <a:ext cx="274320" cy="274320"/>
          </a:xfrm>
          <a:prstGeom prst="ellipse">
            <a:avLst/>
          </a:prstGeom>
          <a:solidFill>
            <a:srgbClr val="006D77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智能健康管理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279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可穿戴设备实时监测，个性化健康干预方案推送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029200" y="1188720"/>
          <a:ext cx="3474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solidFill>
            <a:srgbClr val="006D77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核心洞察：信息化建设正从"工具辅助"向"智慧赋能"转型，全面提升社区卫生服务效能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3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83C5B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FFDDD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FDDD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374904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社区卫生服务是公共卫生体系的基石，覆盖预防、保健、医疗、康复、健康教育及计生六大领域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74904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公共卫生体系由疾病防控、卫生监督、妇幼保健三大支柱构成，政府主导、多方参与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74904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建立政府、医疗机构、社会组织、企业四方协同机制，以社区居民健康为核心目标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374904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8348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推进信息化与智慧赋能，实现从"以治病为中心"向"以健康为中心"的根本转变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4480560"/>
            <a:ext cx="4572000" cy="365760"/>
          </a:xfrm>
          <a:prstGeom prst="rect">
            <a:avLst>
              <a:gd name="adj" fmla="val 50000"/>
            </a:avLst>
          </a:prstGeom>
          <a:solidFill>
            <a:srgbClr val="E29578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建设健康社区  ·  守护公共安全  ·  共筑美好未来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社区与公共卫生支持体系</dc:title>
  <dc:subject>Community &amp; Public Health Support System</dc:subject>
  <dc:creator>AI Assistant</dc:creator>
  <cp:lastModifiedBy>AI Assistant</cp:lastModifiedBy>
  <cp:revision>1</cp:revision>
  <dcterms:created xsi:type="dcterms:W3CDTF">2026-05-12T05:49:40Z</dcterms:created>
  <dcterms:modified xsi:type="dcterms:W3CDTF">2026-05-12T05:49:41Z</dcterms:modified>
</cp:coreProperties>
</file>